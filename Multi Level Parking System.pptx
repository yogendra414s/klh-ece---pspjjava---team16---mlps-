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yper_realistic_cinematic_high_resolution_nigh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40680" cy="6858000"/>
          </a:xfrm>
          <a:prstGeom prst="rect">
            <a:avLst/>
          </a:prstGeom>
          <a:solidFill>
            <a:srgbClr val="193E36"/>
          </a:solidFill>
          <a:ln w="12700">
            <a:solidFill>
              <a:srgbClr val="193E3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40680" y="0"/>
            <a:ext cx="100584" cy="6858000"/>
          </a:xfrm>
          <a:prstGeom prst="rect">
            <a:avLst/>
          </a:prstGeom>
          <a:solidFill>
            <a:srgbClr val="C85D42"/>
          </a:solidFill>
          <a:ln w="12700">
            <a:solidFill>
              <a:srgbClr val="C85D42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603504"/>
            <a:ext cx="448056" cy="6400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88720" y="5394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E6EAD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CAMPUS / URBAN INFRASTRUCTURE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" y="132588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MULTI-LEVEL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PARKING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30936" y="4315968"/>
            <a:ext cx="43616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6EA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smarter way to organize real parking space—across floors, gates and every available slot.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12648" y="5833872"/>
            <a:ext cx="4270248" cy="2286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9801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SPACE   •   MOVEMENT   •   MANAGEMENT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966960" y="649224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PARKING  /  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85D42"/>
          </a:solidFill>
          <a:ln w="12700">
            <a:solidFill>
              <a:srgbClr val="C85D4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" y="1024128"/>
            <a:ext cx="11155680" cy="15545"/>
          </a:xfrm>
          <a:prstGeom prst="rect">
            <a:avLst/>
          </a:prstGeom>
          <a:solidFill>
            <a:srgbClr val="D8D7CA"/>
          </a:solidFill>
          <a:ln w="12700">
            <a:solidFill>
              <a:srgbClr val="D8D7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0175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/ CONTEXT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5394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parking problem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9496" y="1143000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Adding more floors increases capacity. Without guidance, it can also make finding a space harder.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" y="1783080"/>
            <a:ext cx="5193792" cy="3227832"/>
          </a:xfrm>
          <a:prstGeom prst="roundRect">
            <a:avLst>
              <a:gd name="adj" fmla="val 3399"/>
            </a:avLst>
          </a:prstGeom>
          <a:solidFill>
            <a:srgbClr val="FFFCF7"/>
          </a:solidFill>
          <a:ln w="10160">
            <a:solidFill>
              <a:srgbClr val="D8D7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98464" y="1783080"/>
            <a:ext cx="5532120" cy="3227832"/>
          </a:xfrm>
          <a:prstGeom prst="roundRect">
            <a:avLst>
              <a:gd name="adj" fmla="val 3399"/>
            </a:avLst>
          </a:prstGeom>
          <a:solidFill>
            <a:srgbClr val="193E36"/>
          </a:solidFill>
          <a:ln w="12700">
            <a:solidFill>
              <a:srgbClr val="193E3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CHALLENGE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31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Drivers circle between floors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32918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visibility of vacant slots, crowded ramps and manual entry records create delays.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09360" y="2057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514600"/>
            <a:ext cx="4663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Give every vehicle a clear route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3374136"/>
            <a:ext cx="456285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6EA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level-wise availability, assign a free slot, track gate movement and maintain a single occupancy record.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4360" y="5367528"/>
            <a:ext cx="10927080" cy="594360"/>
          </a:xfrm>
          <a:prstGeom prst="roundRect">
            <a:avLst>
              <a:gd name="adj" fmla="val 18462"/>
            </a:avLst>
          </a:prstGeom>
          <a:solidFill>
            <a:srgbClr val="E6EADD"/>
          </a:solidFill>
          <a:ln w="12700">
            <a:solidFill>
              <a:srgbClr val="E6EAD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552297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PROJECT?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88920" y="5495544"/>
            <a:ext cx="8275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connects a physical building with a practical digital management system.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66960" y="649224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3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PARKING  / 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85D42"/>
          </a:solidFill>
          <a:ln w="12700">
            <a:solidFill>
              <a:srgbClr val="C85D4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" y="1024128"/>
            <a:ext cx="11155680" cy="15545"/>
          </a:xfrm>
          <a:prstGeom prst="rect">
            <a:avLst/>
          </a:prstGeom>
          <a:solidFill>
            <a:srgbClr val="D8D7CA"/>
          </a:solidFill>
          <a:ln w="12700">
            <a:solidFill>
              <a:srgbClr val="D8D7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0175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/ PHYSICAL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5394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Inside a real multi-level car park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9496" y="1143000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feature in the application corresponds to a physical part of the parking facility.</a:t>
            </a:r>
            <a:endParaRPr lang="en-US" sz="1200" dirty="0"/>
          </a:p>
        </p:txBody>
      </p:sp>
      <p:pic>
        <p:nvPicPr>
          <p:cNvPr id="7" name="Image 0" descr="/mnt/data/wide_isometric_3d_illustration_of_a_multi_level_pa_batch_3.png">    </p:cNvPr>
          <p:cNvPicPr>
            <a:picLocks noChangeAspect="1"/>
          </p:cNvPicPr>
          <p:nvPr/>
        </p:nvPicPr>
        <p:blipFill>
          <a:blip r:embed="rId1"/>
          <a:srcRect l="6302" r="6303" t="0" b="0"/>
          <a:stretch/>
        </p:blipFill>
        <p:spPr>
          <a:xfrm>
            <a:off x="566928" y="1737360"/>
            <a:ext cx="6446520" cy="41513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5916168"/>
            <a:ext cx="6446520" cy="64008"/>
          </a:xfrm>
          <a:prstGeom prst="rect">
            <a:avLst/>
          </a:prstGeom>
          <a:solidFill>
            <a:srgbClr val="C85D42"/>
          </a:solidFill>
          <a:ln w="12700">
            <a:solidFill>
              <a:srgbClr val="C85D42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96912" y="1664208"/>
            <a:ext cx="4251960" cy="950976"/>
          </a:xfrm>
          <a:prstGeom prst="roundRect">
            <a:avLst>
              <a:gd name="adj" fmla="val 11538"/>
            </a:avLst>
          </a:prstGeom>
          <a:solidFill>
            <a:srgbClr val="FFFCF7"/>
          </a:solidFill>
          <a:ln w="10160">
            <a:solidFill>
              <a:srgbClr val="D8D7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18379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47304" y="1810512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FLOORS &amp; RAMPS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47304" y="2093976"/>
            <a:ext cx="3044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movement across multiple decks.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96912" y="2743200"/>
            <a:ext cx="4251960" cy="950976"/>
          </a:xfrm>
          <a:prstGeom prst="roundRect">
            <a:avLst>
              <a:gd name="adj" fmla="val 11538"/>
            </a:avLst>
          </a:prstGeom>
          <a:solidFill>
            <a:srgbClr val="E6EADD"/>
          </a:solidFill>
          <a:ln w="10160">
            <a:solidFill>
              <a:srgbClr val="D8D7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0" y="29169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147304" y="2889504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ENTRY / EXIT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47304" y="3172968"/>
            <a:ext cx="3044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gates register each visit.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296912" y="3822192"/>
            <a:ext cx="4251960" cy="950976"/>
          </a:xfrm>
          <a:prstGeom prst="roundRect">
            <a:avLst>
              <a:gd name="adj" fmla="val 11538"/>
            </a:avLst>
          </a:prstGeom>
          <a:solidFill>
            <a:srgbClr val="FFFCF7"/>
          </a:solidFill>
          <a:ln w="10160">
            <a:solidFill>
              <a:srgbClr val="D8D7C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0" y="39959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147304" y="3968496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SLOT INDICATORS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47304" y="4251960"/>
            <a:ext cx="3044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and occupied spaces are easy to locate.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296912" y="4901184"/>
            <a:ext cx="4251960" cy="950976"/>
          </a:xfrm>
          <a:prstGeom prst="roundRect">
            <a:avLst>
              <a:gd name="adj" fmla="val 11538"/>
            </a:avLst>
          </a:prstGeom>
          <a:solidFill>
            <a:srgbClr val="E6EADD"/>
          </a:solidFill>
          <a:ln w="10160">
            <a:solidFill>
              <a:srgbClr val="D8D7C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0" y="50749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147304" y="504748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ROOM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147304" y="5330952"/>
            <a:ext cx="3044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monitor the building and its occupancy.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966960" y="649224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3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PARKING  / 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85D42"/>
          </a:solidFill>
          <a:ln w="12700">
            <a:solidFill>
              <a:srgbClr val="C85D4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" y="1024128"/>
            <a:ext cx="11155680" cy="15545"/>
          </a:xfrm>
          <a:prstGeom prst="rect">
            <a:avLst/>
          </a:prstGeom>
          <a:solidFill>
            <a:srgbClr val="D8D7CA"/>
          </a:solidFill>
          <a:ln w="12700">
            <a:solidFill>
              <a:srgbClr val="D8D7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0175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/ OPERATION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5394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vehicle. Five coordinated steps.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9496" y="1143000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how a driver interacts with both the parking structure and the software.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2148840" cy="2898648"/>
          </a:xfrm>
          <a:prstGeom prst="roundRect">
            <a:avLst>
              <a:gd name="adj" fmla="val 5106"/>
            </a:avLst>
          </a:prstGeom>
          <a:solidFill>
            <a:srgbClr val="FFFCF7"/>
          </a:solidFill>
          <a:ln w="10160">
            <a:solidFill>
              <a:srgbClr val="D8D7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1284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C85D42"/>
          </a:solidFill>
          <a:ln w="12700">
            <a:solidFill>
              <a:srgbClr val="C85D4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32257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0664" y="292608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ARRIVAL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0664" y="3547872"/>
            <a:ext cx="17465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details are recorded at the entry gate.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97480" y="3081528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898648" y="1984248"/>
            <a:ext cx="2148840" cy="2898648"/>
          </a:xfrm>
          <a:prstGeom prst="roundRect">
            <a:avLst>
              <a:gd name="adj" fmla="val 5106"/>
            </a:avLst>
          </a:prstGeom>
          <a:solidFill>
            <a:srgbClr val="FFFCF7"/>
          </a:solidFill>
          <a:ln w="10160">
            <a:solidFill>
              <a:srgbClr val="D8D7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81528" y="221284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C85D42"/>
          </a:solidFill>
          <a:ln w="12700">
            <a:solidFill>
              <a:srgbClr val="C85D4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45536" y="232257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90672" y="292608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90672" y="3547872"/>
            <a:ext cx="17465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checks vacant slots on every floor.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47488" y="3081528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248656" y="1984248"/>
            <a:ext cx="2148840" cy="2898648"/>
          </a:xfrm>
          <a:prstGeom prst="roundRect">
            <a:avLst>
              <a:gd name="adj" fmla="val 5106"/>
            </a:avLst>
          </a:prstGeom>
          <a:solidFill>
            <a:srgbClr val="193E36"/>
          </a:solidFill>
          <a:ln w="10160">
            <a:solidFill>
              <a:srgbClr val="193E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31536" y="221284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5544" y="232257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292608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ALLOCATION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3547872"/>
            <a:ext cx="17465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6EA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appropriate floor and slot are assigned.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97496" y="3081528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598664" y="1984248"/>
            <a:ext cx="2148840" cy="2898648"/>
          </a:xfrm>
          <a:prstGeom prst="roundRect">
            <a:avLst>
              <a:gd name="adj" fmla="val 5106"/>
            </a:avLst>
          </a:prstGeom>
          <a:solidFill>
            <a:srgbClr val="FFFCF7"/>
          </a:solidFill>
          <a:ln w="10160">
            <a:solidFill>
              <a:srgbClr val="D8D7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81544" y="221284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C85D42"/>
          </a:solidFill>
          <a:ln w="12700">
            <a:solidFill>
              <a:srgbClr val="C85D4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45552" y="232257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90688" y="292608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OCCUPANCY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90688" y="3547872"/>
            <a:ext cx="17465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parking status changes when the car parks.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747504" y="3081528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9948672" y="1984248"/>
            <a:ext cx="2148840" cy="2898648"/>
          </a:xfrm>
          <a:prstGeom prst="roundRect">
            <a:avLst>
              <a:gd name="adj" fmla="val 5106"/>
            </a:avLst>
          </a:prstGeom>
          <a:solidFill>
            <a:srgbClr val="FFFCF7"/>
          </a:solidFill>
          <a:ln w="10160">
            <a:solidFill>
              <a:srgbClr val="D8D7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31552" y="221284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C85D42"/>
          </a:solidFill>
          <a:ln w="12700">
            <a:solidFill>
              <a:srgbClr val="C85D4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95560" y="232257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140696" y="292608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140696" y="3547872"/>
            <a:ext cx="17465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is recorded; the slot is released again.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03504" y="5276088"/>
            <a:ext cx="10972800" cy="667512"/>
          </a:xfrm>
          <a:prstGeom prst="roundRect">
            <a:avLst>
              <a:gd name="adj" fmla="val 16438"/>
            </a:avLst>
          </a:prstGeom>
          <a:solidFill>
            <a:srgbClr val="E6EADD"/>
          </a:solidFill>
          <a:ln w="12700">
            <a:solidFill>
              <a:srgbClr val="E6EAD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47725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PHYSICAL + DIGITAL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127248" y="5468112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Gates, floor layouts and slot occupancy all feed into the same system.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966960" y="649224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3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PARKING  / 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85D42"/>
          </a:solidFill>
          <a:ln w="12700">
            <a:solidFill>
              <a:srgbClr val="C85D4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" y="1024128"/>
            <a:ext cx="11155680" cy="15545"/>
          </a:xfrm>
          <a:prstGeom prst="rect">
            <a:avLst/>
          </a:prstGeom>
          <a:solidFill>
            <a:srgbClr val="D8D7CA"/>
          </a:solidFill>
          <a:ln w="12700">
            <a:solidFill>
              <a:srgbClr val="D8D7C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0175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/ SOFTWARE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5394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five project modules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9496" y="1143000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software structure that mirrors what happens in the actual parking building.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" y="1691640"/>
            <a:ext cx="2130552" cy="2313432"/>
          </a:xfrm>
          <a:prstGeom prst="roundRect">
            <a:avLst>
              <a:gd name="adj" fmla="val 5150"/>
            </a:avLst>
          </a:prstGeom>
          <a:solidFill>
            <a:srgbClr val="FFFCF7"/>
          </a:solidFill>
          <a:ln w="10160">
            <a:solidFill>
              <a:srgbClr val="D8D7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691640"/>
            <a:ext cx="2130552" cy="82296"/>
          </a:xfrm>
          <a:prstGeom prst="rect">
            <a:avLst/>
          </a:prstGeom>
          <a:solidFill>
            <a:srgbClr val="C85D42"/>
          </a:solidFill>
          <a:ln w="12700">
            <a:solidFill>
              <a:srgbClr val="C85D4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947672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8952" y="2487168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Vehicle entry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8952" y="3081528"/>
            <a:ext cx="17099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the car, driver details and arrival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16936" y="1691640"/>
            <a:ext cx="2130552" cy="2313432"/>
          </a:xfrm>
          <a:prstGeom prst="roundRect">
            <a:avLst>
              <a:gd name="adj" fmla="val 5150"/>
            </a:avLst>
          </a:prstGeom>
          <a:solidFill>
            <a:srgbClr val="FFFCF7"/>
          </a:solidFill>
          <a:ln w="10160">
            <a:solidFill>
              <a:srgbClr val="D8D7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16936" y="1691640"/>
            <a:ext cx="2130552" cy="82296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947672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99816" y="2487168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Slot allocation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99816" y="3081528"/>
            <a:ext cx="17099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 suitable free slot on the selected floor.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57800" y="1691640"/>
            <a:ext cx="2130552" cy="2313432"/>
          </a:xfrm>
          <a:prstGeom prst="roundRect">
            <a:avLst>
              <a:gd name="adj" fmla="val 5150"/>
            </a:avLst>
          </a:prstGeom>
          <a:solidFill>
            <a:srgbClr val="FFFCF7"/>
          </a:solidFill>
          <a:ln w="10160">
            <a:solidFill>
              <a:srgbClr val="D8D7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57800" y="1691640"/>
            <a:ext cx="2130552" cy="82296"/>
          </a:xfrm>
          <a:prstGeom prst="rect">
            <a:avLst/>
          </a:prstGeom>
          <a:solidFill>
            <a:srgbClr val="C85D42"/>
          </a:solidFill>
          <a:ln w="12700">
            <a:solidFill>
              <a:srgbClr val="C85D4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1947672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40680" y="2487168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Availability view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3081528"/>
            <a:ext cx="17099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 live free / occupied spaces by level.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98664" y="1691640"/>
            <a:ext cx="2130552" cy="2313432"/>
          </a:xfrm>
          <a:prstGeom prst="roundRect">
            <a:avLst>
              <a:gd name="adj" fmla="val 5150"/>
            </a:avLst>
          </a:prstGeom>
          <a:solidFill>
            <a:srgbClr val="FFFCF7"/>
          </a:solidFill>
          <a:ln w="10160">
            <a:solidFill>
              <a:srgbClr val="D8D7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98664" y="1691640"/>
            <a:ext cx="2130552" cy="82296"/>
          </a:xfrm>
          <a:prstGeom prst="rect">
            <a:avLst/>
          </a:prstGeom>
          <a:solidFill>
            <a:srgbClr val="C85D42"/>
          </a:solidFill>
          <a:ln w="12700">
            <a:solidFill>
              <a:srgbClr val="C85D4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90688" y="1947672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781544" y="2487168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&amp; billing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81544" y="3081528"/>
            <a:ext cx="17099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departure, duration and vacancy.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939528" y="1691640"/>
            <a:ext cx="2130552" cy="2313432"/>
          </a:xfrm>
          <a:prstGeom prst="roundRect">
            <a:avLst>
              <a:gd name="adj" fmla="val 5150"/>
            </a:avLst>
          </a:prstGeom>
          <a:solidFill>
            <a:srgbClr val="FFFCF7"/>
          </a:solidFill>
          <a:ln w="10160">
            <a:solidFill>
              <a:srgbClr val="D8D7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39528" y="1691640"/>
            <a:ext cx="2130552" cy="82296"/>
          </a:xfrm>
          <a:prstGeom prst="rect">
            <a:avLst/>
          </a:prstGeom>
          <a:solidFill>
            <a:srgbClr val="C85D42"/>
          </a:solidFill>
          <a:ln w="12700">
            <a:solidFill>
              <a:srgbClr val="C85D4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31552" y="1947672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122408" y="2487168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22408" y="3081528"/>
            <a:ext cx="17099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capacity, vehicle logs and reports.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4023360"/>
            <a:ext cx="0" cy="484632"/>
          </a:xfrm>
          <a:prstGeom prst="line">
            <a:avLst/>
          </a:prstGeom>
          <a:noFill/>
          <a:ln w="25400">
            <a:solidFill>
              <a:srgbClr val="C85D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4535424"/>
            <a:ext cx="9464040" cy="1106424"/>
          </a:xfrm>
          <a:prstGeom prst="roundRect">
            <a:avLst>
              <a:gd name="adj" fmla="val 9917"/>
            </a:avLst>
          </a:prstGeom>
          <a:solidFill>
            <a:srgbClr val="193E36"/>
          </a:solidFill>
          <a:ln w="12700">
            <a:solidFill>
              <a:srgbClr val="193E3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55064" y="475488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09928" y="490118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DB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414016" y="475488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 PARKING DATABASE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423160" y="5166360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6EA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details • Floor &amp; slot status • Entry and exit logs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581912" y="5907024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3E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module reads or updates the same set of parking records.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966960" y="649224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3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PARKING  / 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detailed_isometric_realistic_3d_visualizatio_batch_2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577840" cy="6858000"/>
          </a:xfrm>
          <a:prstGeom prst="rect">
            <a:avLst/>
          </a:prstGeom>
          <a:solidFill>
            <a:srgbClr val="193E36"/>
          </a:solidFill>
          <a:ln w="12700">
            <a:solidFill>
              <a:srgbClr val="193E3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577840" y="0"/>
            <a:ext cx="91440" cy="6858000"/>
          </a:xfrm>
          <a:prstGeom prst="rect">
            <a:avLst/>
          </a:prstGeom>
          <a:solidFill>
            <a:srgbClr val="C85D42"/>
          </a:solidFill>
          <a:ln w="12700">
            <a:solidFill>
              <a:srgbClr val="C85D42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" y="475488"/>
            <a:ext cx="4937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D9A4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/ IMPACT &amp; FUTURE SCOPE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85216" y="1033272"/>
            <a:ext cx="457200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better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parking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</a:t>
            </a:r>
            <a:endParaRPr lang="en-US" sz="3700" dirty="0"/>
          </a:p>
        </p:txBody>
      </p:sp>
      <p:sp>
        <p:nvSpPr>
          <p:cNvPr id="7" name="Shape 4"/>
          <p:cNvSpPr/>
          <p:nvPr/>
        </p:nvSpPr>
        <p:spPr>
          <a:xfrm>
            <a:off x="621792" y="3355848"/>
            <a:ext cx="77724" cy="52120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55848"/>
            <a:ext cx="4370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 SEARCH TIME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621024"/>
            <a:ext cx="4352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6EA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drivers to known vacant spaces.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621792" y="4041648"/>
            <a:ext cx="77724" cy="52120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041648"/>
            <a:ext cx="4370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BETTER SPACE USE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4306824"/>
            <a:ext cx="4352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6EA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 demand across all floors.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621792" y="4727448"/>
            <a:ext cx="77724" cy="52120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727448"/>
            <a:ext cx="4370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CLEARER RECORDS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8680" y="4992624"/>
            <a:ext cx="4352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6EA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arrivals, departures and occupancy organized.</a:t>
            </a:r>
            <a:endParaRPr lang="en-US" sz="1060" dirty="0"/>
          </a:p>
        </p:txBody>
      </p:sp>
      <p:sp>
        <p:nvSpPr>
          <p:cNvPr id="16" name="Shape 13"/>
          <p:cNvSpPr/>
          <p:nvPr/>
        </p:nvSpPr>
        <p:spPr>
          <a:xfrm>
            <a:off x="6227064" y="4892040"/>
            <a:ext cx="5221224" cy="1197864"/>
          </a:xfrm>
          <a:prstGeom prst="roundRect">
            <a:avLst>
              <a:gd name="adj" fmla="val 9160"/>
            </a:avLst>
          </a:prstGeom>
          <a:solidFill>
            <a:srgbClr val="FFFCF7"/>
          </a:solidFill>
          <a:ln w="12700">
            <a:solidFill>
              <a:srgbClr val="FFFCF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5102352"/>
            <a:ext cx="4544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85D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NEXT: SMARTER AUTOMATION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92240" y="5513832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531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Sensors, QR/RFID entry, mobile guidance and digital payments.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966960" y="649224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PARKING  /  06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Multi-Level Parking System — Redesigned</dc:title>
  <dc:subject>PptxGenJS Presentation</dc:subject>
  <dc:creator>ChatGPT</dc:creator>
  <cp:lastModifiedBy>ChatGPT</cp:lastModifiedBy>
  <cp:revision>1</cp:revision>
  <dcterms:created xsi:type="dcterms:W3CDTF">2026-09-26T05:39:51Z</dcterms:created>
  <dcterms:modified xsi:type="dcterms:W3CDTF">2026-09-26T05:39:51Z</dcterms:modified>
</cp:coreProperties>
</file>